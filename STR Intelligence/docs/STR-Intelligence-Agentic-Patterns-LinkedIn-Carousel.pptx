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873074b2e479a" /><Relationship Type="http://schemas.openxmlformats.org/officeDocument/2006/relationships/extended-properties" Target="/docProps/app.xml" Id="R1f889e20e9414bb1" /><Relationship Type="http://schemas.openxmlformats.org/officeDocument/2006/relationships/officeDocument" Target="/ppt/presentation.xml" Id="R0c7c279b08024d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5ccf53f4404310"/>
  </p:sldMasterIdLst>
  <p:notesMasterIdLst>
    <p:notesMasterId xmlns:r="http://schemas.openxmlformats.org/officeDocument/2006/relationships" r:id="R0dc3a70df7694db4"/>
  </p:notesMasterIdLst>
  <p:sldIdLst>
    <p:sldId xmlns:r="http://schemas.openxmlformats.org/officeDocument/2006/relationships" id="256" r:id="Re30b15df804c44b1"/>
    <p:sldId xmlns:r="http://schemas.openxmlformats.org/officeDocument/2006/relationships" id="257" r:id="R0f402a6593944752"/>
    <p:sldId xmlns:r="http://schemas.openxmlformats.org/officeDocument/2006/relationships" id="258" r:id="Rce76994f54ea49d5"/>
    <p:sldId xmlns:r="http://schemas.openxmlformats.org/officeDocument/2006/relationships" id="259" r:id="Rb1513f17dbe64deb"/>
    <p:sldId xmlns:r="http://schemas.openxmlformats.org/officeDocument/2006/relationships" id="260" r:id="R791ffafb62bd4993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679a854dd49dd" /><Relationship Type="http://schemas.openxmlformats.org/officeDocument/2006/relationships/slideMaster" Target="/ppt/slideMasters/slideMaster1.xml" Id="R505ccf53f4404310" /><Relationship Type="http://schemas.openxmlformats.org/officeDocument/2006/relationships/notesMaster" Target="/ppt/notesMasters/notesMaster1.xml" Id="R0dc3a70df7694db4" /><Relationship Type="http://schemas.openxmlformats.org/officeDocument/2006/relationships/presProps" Target="/ppt/presProps.xml" Id="R6ce421f166dc4a28" /><Relationship Type="http://schemas.openxmlformats.org/officeDocument/2006/relationships/tableStyles" Target="/ppt/tableStyles.xml" Id="R0da19357bf03413a" /><Relationship Type="http://schemas.openxmlformats.org/officeDocument/2006/relationships/slide" Target="/ppt/slides/slide1.xml" Id="Re30b15df804c44b1" /><Relationship Type="http://schemas.openxmlformats.org/officeDocument/2006/relationships/slide" Target="/ppt/slides/slide2.xml" Id="R0f402a6593944752" /><Relationship Type="http://schemas.openxmlformats.org/officeDocument/2006/relationships/slide" Target="/ppt/slides/slide3.xml" Id="Rce76994f54ea49d5" /><Relationship Type="http://schemas.openxmlformats.org/officeDocument/2006/relationships/slide" Target="/ppt/slides/slide4.xml" Id="Rb1513f17dbe64deb" /><Relationship Type="http://schemas.openxmlformats.org/officeDocument/2006/relationships/slide" Target="/ppt/slides/slide5.xml" Id="R791ffafb62bd49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37331b157446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b06a05608c457b" /><Relationship Type="http://schemas.openxmlformats.org/officeDocument/2006/relationships/notesMaster" Target="/ppt/notesMasters/notesMaster1.xml" Id="R4d5beb5cba884a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d7f6b4b24a4872" /><Relationship Type="http://schemas.openxmlformats.org/officeDocument/2006/relationships/notesMaster" Target="/ppt/notesMasters/notesMaster1.xml" Id="Rbd390d5bd5a04f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19fac3385e48ff" /><Relationship Type="http://schemas.openxmlformats.org/officeDocument/2006/relationships/notesMaster" Target="/ppt/notesMasters/notesMaster1.xml" Id="Rbf1f836d95554b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44058323f74fa9" /><Relationship Type="http://schemas.openxmlformats.org/officeDocument/2006/relationships/notesMaster" Target="/ppt/notesMasters/notesMaster1.xml" Id="Rbefecc28768541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569dddc5894328" /><Relationship Type="http://schemas.openxmlformats.org/officeDocument/2006/relationships/notesMaster" Target="/ppt/notesMasters/notesMaster1.xml" Id="R939df83e0c8f41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388700f214d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9313d7478f4a77" /><Relationship Type="http://schemas.openxmlformats.org/officeDocument/2006/relationships/slideLayout" Target="/ppt/slideLayouts/slideLayout1.xml" Id="R5c4305ad6adf47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4305ad6adf47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3a0d340004a71" /><Relationship Type="http://schemas.openxmlformats.org/officeDocument/2006/relationships/notesSlide" Target="/ppt/notesSlides/notesSlide1.xml" Id="Rdf4fe060cecc49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e73967f7b47e8" /><Relationship Type="http://schemas.openxmlformats.org/officeDocument/2006/relationships/notesSlide" Target="/ppt/notesSlides/notesSlide2.xml" Id="R1cb5241448b24f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ad78ed15240ad" /><Relationship Type="http://schemas.openxmlformats.org/officeDocument/2006/relationships/notesSlide" Target="/ppt/notesSlides/notesSlide3.xml" Id="Ra2f20414960842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ba4aebf9d4c60" /><Relationship Type="http://schemas.openxmlformats.org/officeDocument/2006/relationships/notesSlide" Target="/ppt/notesSlides/notesSlide4.xml" Id="Rca63cb50e03447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6701f9b3e4194" /><Relationship Type="http://schemas.openxmlformats.org/officeDocument/2006/relationships/notesSlide" Target="/ppt/notesSlides/notesSlide5.xml" Id="R0380a430105243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29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F7D6B19-1CBC-47BD-A158-18FA71AD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FECE5"/>
                </a:solidFill>
              </a:defRPr>
            </a:pPr>
            <a:r>
              <a:rPr sz="1275" b="1">
                <a:solidFill>
                  <a:srgbClr val="DFECE5"/>
                </a:solidFill>
              </a:rPr>
              <a:t>WEEK 3 · MASTERING AGENTIC AI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E8D0741-D03E-4C7C-A217-9D7DE55C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DF8"/>
                </a:solidFill>
              </a:defRPr>
            </a:pPr>
            <a:r>
              <a:rPr sz="5700" b="1">
                <a:solidFill>
                  <a:srgbClr val="FFFDF8"/>
                </a:solidFill>
              </a:rPr>
              <a:t>STR</a:t>
            </a:r>
          </a:p>
          <a:p xmlns:a="http://schemas.openxmlformats.org/drawingml/2006/main">
            <a:pPr algn="l">
              <a:defRPr sz="5700" b="1">
                <a:solidFill>
                  <a:srgbClr val="FFFDF8"/>
                </a:solidFill>
              </a:defRPr>
            </a:pPr>
            <a:r>
              <a:rPr sz="5700" b="1">
                <a:solidFill>
                  <a:srgbClr val="FFFDF8"/>
                </a:solidFill>
              </a:rPr>
              <a:t>Intelligence</a:t>
            </a:r>
          </a:p>
        </p:txBody>
      </p:sp>
      <p:sp>
        <p:nvSpPr>
          <p:cNvPr id="3" name="rule-74-462">
            <a:extLst xmlns:a="http://schemas.openxmlformats.org/drawingml/2006/main">
              <a:ext uri="{FF2B5EF4-FFF2-40B4-BE49-F238E27FC236}">
                <a16:creationId xmlns:a16="http://schemas.microsoft.com/office/drawing/2014/main" id="{14375991-B9CF-4122-9F9B-7B2F2EF2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123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287EEC2-3C13-4E43-B5BE-75125E87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DF8"/>
                </a:solidFill>
              </a:defRPr>
            </a:pPr>
            <a:r>
              <a:rPr sz="2550" b="0">
                <a:solidFill>
                  <a:srgbClr val="FFFDF8"/>
                </a:solidFill>
              </a:rPr>
              <a:t>One real investment problem.</a:t>
            </a:r>
          </a:p>
          <a:p xmlns:a="http://schemas.openxmlformats.org/drawingml/2006/main">
            <a:pPr algn="l">
              <a:defRPr sz="2550" b="0">
                <a:solidFill>
                  <a:srgbClr val="FFFDF8"/>
                </a:solidFill>
              </a:defRPr>
            </a:pPr>
            <a:r>
              <a:rPr sz="2550" b="0">
                <a:solidFill>
                  <a:srgbClr val="FFFDF8"/>
                </a:solidFill>
              </a:rPr>
              <a:t>Five agentic patterns.</a:t>
            </a:r>
          </a:p>
        </p:txBody>
      </p:sp>
      <p:sp>
        <p:nvSpPr>
          <p:cNvPr id="5" name="cover-orbit-outer">
            <a:extLst xmlns:a="http://schemas.openxmlformats.org/drawingml/2006/main">
              <a:ext uri="{FF2B5EF4-FFF2-40B4-BE49-F238E27FC236}">
                <a16:creationId xmlns:a16="http://schemas.microsoft.com/office/drawing/2014/main" id="{E8A733A3-E880-4E46-A143-4C60FDB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F6954"/>
            </a:solidFill>
            <a:prstDash val="solid"/>
          </a:ln>
        </p:spPr>
      </p:sp>
      <p:sp>
        <p:nvSpPr>
          <p:cNvPr id="6" name="cover-orbit-mid">
            <a:extLst xmlns:a="http://schemas.openxmlformats.org/drawingml/2006/main">
              <a:ext uri="{FF2B5EF4-FFF2-40B4-BE49-F238E27FC236}">
                <a16:creationId xmlns:a16="http://schemas.microsoft.com/office/drawing/2014/main" id="{F11962FD-4198-40FE-BF5B-48468E23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81275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4A3B"/>
          </a:solidFill>
          <a:ln xmlns:a="http://schemas.openxmlformats.org/drawingml/2006/main" w="9525">
            <a:solidFill>
              <a:srgbClr val="DFECE5"/>
            </a:solidFill>
            <a:prstDash val="solid"/>
          </a:ln>
        </p:spPr>
      </p:sp>
      <p:sp>
        <p:nvSpPr>
          <p:cNvPr id="7" name="cover-mark">
            <a:extLst xmlns:a="http://schemas.openxmlformats.org/drawingml/2006/main">
              <a:ext uri="{FF2B5EF4-FFF2-40B4-BE49-F238E27FC236}">
                <a16:creationId xmlns:a16="http://schemas.microsoft.com/office/drawing/2014/main" id="{722828AB-B877-4903-A76B-E7E564AC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575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DF8"/>
                </a:solidFill>
              </a:defRPr>
            </a:pPr>
            <a:r>
              <a:rPr sz="2325" b="1">
                <a:solidFill>
                  <a:srgbClr val="FFFDF8"/>
                </a:solidFill>
              </a:rPr>
              <a:t>STR</a:t>
            </a:r>
          </a:p>
        </p:txBody>
      </p:sp>
      <p:sp>
        <p:nvSpPr>
          <p:cNvPr id="8" name="cover-flow">
            <a:extLst xmlns:a="http://schemas.openxmlformats.org/drawingml/2006/main">
              <a:ext uri="{FF2B5EF4-FFF2-40B4-BE49-F238E27FC236}">
                <a16:creationId xmlns:a16="http://schemas.microsoft.com/office/drawing/2014/main" id="{D5C4F541-4222-465B-96CC-26A81913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FECE5"/>
                </a:solidFill>
              </a:defRPr>
            </a:pPr>
            <a:r>
              <a:rPr sz="1425" b="1">
                <a:solidFill>
                  <a:srgbClr val="DFECE5"/>
                </a:solidFill>
              </a:rPr>
              <a:t>SEARCH  →  EVIDENCE  →  DECISION</a:t>
            </a:r>
          </a:p>
        </p:txBody>
      </p:sp>
      <p:sp>
        <p:nvSpPr>
          <p:cNvPr id="9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0FB3F490-57F2-43A9-B9BF-A5356CFB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705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DF8"/>
                </a:solidFill>
              </a:defRPr>
            </a:pPr>
            <a:r>
              <a:rPr sz="1275" b="1">
                <a:solidFill>
                  <a:srgbClr val="FFFDF8"/>
                </a:solidFill>
              </a:rPr>
              <a:t>Kajal Patel</a:t>
            </a:r>
          </a:p>
        </p:txBody>
      </p:sp>
    </p:spTree>
    <p:extLst>
      <p:ext uri="{BB962C8B-B14F-4D97-AF65-F5344CB8AC3E}">
        <p14:creationId xmlns:p14="http://schemas.microsoft.com/office/powerpoint/2010/main" val="1047867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rand-2">
            <a:extLst xmlns:a="http://schemas.openxmlformats.org/drawingml/2006/main">
              <a:ext uri="{FF2B5EF4-FFF2-40B4-BE49-F238E27FC236}">
                <a16:creationId xmlns:a16="http://schemas.microsoft.com/office/drawing/2014/main" id="{DE012424-AE09-4A94-A73C-A2BAEDCF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954"/>
                </a:solidFill>
              </a:defRPr>
            </a:pPr>
            <a:r>
              <a:rPr sz="1275" b="1">
                <a:solidFill>
                  <a:srgbClr val="1F6954"/>
                </a:solidFill>
              </a:rPr>
              <a:t>STR INTELLIGENCE</a:t>
            </a:r>
          </a:p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FCB16C6A-B444-43A0-85B9-D36BD938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06B"/>
                </a:solidFill>
              </a:defRPr>
            </a:pPr>
            <a:r>
              <a:rPr sz="1125" b="1">
                <a:solidFill>
                  <a:srgbClr val="64706B"/>
                </a:solidFill>
              </a:rPr>
              <a:t>THE PROBLEM</a:t>
            </a:r>
          </a:p>
        </p:txBody>
      </p:sp>
      <p:sp>
        <p:nvSpPr>
          <p:cNvPr id="3" name="rule-70-88">
            <a:extLst xmlns:a="http://schemas.openxmlformats.org/drawingml/2006/main">
              <a:ext uri="{FF2B5EF4-FFF2-40B4-BE49-F238E27FC236}">
                <a16:creationId xmlns:a16="http://schemas.microsoft.com/office/drawing/2014/main" id="{008A17DB-68B2-4FEE-9D24-B6572762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5E4C39A2-20D2-4822-AE35-9E7ACABF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9620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06B"/>
                </a:solidFill>
              </a:defRPr>
            </a:pPr>
            <a:r>
              <a:rPr sz="1050" b="1">
                <a:solidFill>
                  <a:srgbClr val="64706B"/>
                </a:solidFill>
              </a:rPr>
              <a:t>02</a:t>
            </a:r>
          </a:p>
        </p:txBody>
      </p:sp>
      <p:sp>
        <p:nvSpPr>
          <p:cNvPr id="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563C2C84-3BAD-4E04-8677-E08112CE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C2925"/>
                </a:solidFill>
              </a:defRPr>
            </a:pPr>
            <a:r>
              <a:rPr sz="3975" b="1">
                <a:solidFill>
                  <a:srgbClr val="1C2925"/>
                </a:solidFill>
              </a:rPr>
              <a:t>The work was never</a:t>
            </a:r>
          </a:p>
          <a:p xmlns:a="http://schemas.openxmlformats.org/drawingml/2006/main">
            <a:pPr algn="l">
              <a:defRPr sz="3975" b="1">
                <a:solidFill>
                  <a:srgbClr val="1C2925"/>
                </a:solidFill>
              </a:defRPr>
            </a:pPr>
            <a:r>
              <a:rPr sz="3975" b="1">
                <a:solidFill>
                  <a:srgbClr val="1C2925"/>
                </a:solidFill>
              </a:rPr>
              <a:t>just one search.</a:t>
            </a:r>
          </a:p>
        </p:txBody>
      </p:sp>
      <p:sp>
        <p:nvSpPr>
          <p:cNvPr id="6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A26E9D28-8415-43B2-A66F-5BFF4409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06B"/>
                </a:solidFill>
              </a:defRPr>
            </a:pPr>
            <a:r>
              <a:rPr sz="1875" b="0">
                <a:solidFill>
                  <a:srgbClr val="64706B"/>
                </a:solidFill>
              </a:rPr>
              <a:t>Evaluating one potential STR meant stitching together disconnected evidence—and repeating the same decisions for every property.</a:t>
            </a:r>
          </a:p>
        </p:txBody>
      </p:sp>
      <p:sp>
        <p:nvSpPr>
          <p:cNvPr id="7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3599860A-0285-40AC-95B0-0433762D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5D20"/>
                </a:solidFill>
              </a:defRPr>
            </a:pPr>
            <a:r>
              <a:rPr sz="1350" b="1">
                <a:solidFill>
                  <a:srgbClr val="A75D20"/>
                </a:solidFill>
              </a:rPr>
              <a:t>01</a:t>
            </a:r>
          </a:p>
        </p:txBody>
      </p:sp>
      <p:sp>
        <p:nvSpPr>
          <p:cNvPr id="8" name="problem-name-0">
            <a:extLst xmlns:a="http://schemas.openxmlformats.org/drawingml/2006/main">
              <a:ext uri="{FF2B5EF4-FFF2-40B4-BE49-F238E27FC236}">
                <a16:creationId xmlns:a16="http://schemas.microsoft.com/office/drawing/2014/main" id="{DDEF7ACE-549F-4688-BC3D-E9612BD2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925"/>
                </a:solidFill>
              </a:defRPr>
            </a:pPr>
            <a:r>
              <a:rPr sz="1575" b="1">
                <a:solidFill>
                  <a:srgbClr val="1C2925"/>
                </a:solidFill>
              </a:rPr>
              <a:t>ZILLOW</a:t>
            </a:r>
          </a:p>
        </p:txBody>
      </p:sp>
      <p:sp>
        <p:nvSpPr>
          <p:cNvPr id="9" name="problem-desc-0">
            <a:extLst xmlns:a="http://schemas.openxmlformats.org/drawingml/2006/main">
              <a:ext uri="{FF2B5EF4-FFF2-40B4-BE49-F238E27FC236}">
                <a16:creationId xmlns:a16="http://schemas.microsoft.com/office/drawing/2014/main" id="{D3D2D97B-F8C1-4098-A914-F4B21357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B"/>
                </a:solidFill>
              </a:defRPr>
            </a:pPr>
            <a:r>
              <a:rPr sz="1575" b="0">
                <a:solidFill>
                  <a:srgbClr val="64706B"/>
                </a:solidFill>
              </a:rPr>
              <a:t>Find the property</a:t>
            </a:r>
          </a:p>
        </p:txBody>
      </p:sp>
      <p:sp>
        <p:nvSpPr>
          <p:cNvPr id="10" name="rule-145-558">
            <a:extLst xmlns:a="http://schemas.openxmlformats.org/drawingml/2006/main">
              <a:ext uri="{FF2B5EF4-FFF2-40B4-BE49-F238E27FC236}">
                <a16:creationId xmlns:a16="http://schemas.microsoft.com/office/drawing/2014/main" id="{E120C88C-8368-48B0-BB4B-8D9BAAA7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1495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924F6B63-4586-4FB1-B8A7-D3628115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5D20"/>
                </a:solidFill>
              </a:defRPr>
            </a:pPr>
            <a:r>
              <a:rPr sz="1350" b="1">
                <a:solidFill>
                  <a:srgbClr val="A75D20"/>
                </a:solidFill>
              </a:rPr>
              <a:t>02</a:t>
            </a:r>
          </a:p>
        </p:txBody>
      </p:sp>
      <p:sp>
        <p:nvSpPr>
          <p:cNvPr id="12" name="problem-name-1">
            <a:extLst xmlns:a="http://schemas.openxmlformats.org/drawingml/2006/main">
              <a:ext uri="{FF2B5EF4-FFF2-40B4-BE49-F238E27FC236}">
                <a16:creationId xmlns:a16="http://schemas.microsoft.com/office/drawing/2014/main" id="{EF7DA020-7D21-4FC1-821A-37167FC8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62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925"/>
                </a:solidFill>
              </a:defRPr>
            </a:pPr>
            <a:r>
              <a:rPr sz="1575" b="1">
                <a:solidFill>
                  <a:srgbClr val="1C2925"/>
                </a:solidFill>
              </a:rPr>
              <a:t>AIRBNB</a:t>
            </a:r>
          </a:p>
        </p:txBody>
      </p:sp>
      <p:sp>
        <p:nvSpPr>
          <p:cNvPr id="13" name="problem-desc-1">
            <a:extLst xmlns:a="http://schemas.openxmlformats.org/drawingml/2006/main">
              <a:ext uri="{FF2B5EF4-FFF2-40B4-BE49-F238E27FC236}">
                <a16:creationId xmlns:a16="http://schemas.microsoft.com/office/drawing/2014/main" id="{47810437-9C12-4606-BAE1-681AE128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626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B"/>
                </a:solidFill>
              </a:defRPr>
            </a:pPr>
            <a:r>
              <a:rPr sz="1575" b="0">
                <a:solidFill>
                  <a:srgbClr val="64706B"/>
                </a:solidFill>
              </a:rPr>
              <a:t>Study nearby stays</a:t>
            </a:r>
          </a:p>
        </p:txBody>
      </p:sp>
      <p:sp>
        <p:nvSpPr>
          <p:cNvPr id="14" name="rule-145-663">
            <a:extLst xmlns:a="http://schemas.openxmlformats.org/drawingml/2006/main">
              <a:ext uri="{FF2B5EF4-FFF2-40B4-BE49-F238E27FC236}">
                <a16:creationId xmlns:a16="http://schemas.microsoft.com/office/drawing/2014/main" id="{5AF883C5-B03F-4F9E-B815-46229AF6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15075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C95CAF65-2069-4E1C-913D-13A85A8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5D20"/>
                </a:solidFill>
              </a:defRPr>
            </a:pPr>
            <a:r>
              <a:rPr sz="1350" b="1">
                <a:solidFill>
                  <a:srgbClr val="A75D20"/>
                </a:solidFill>
              </a:rPr>
              <a:t>03</a:t>
            </a:r>
          </a:p>
        </p:txBody>
      </p:sp>
      <p:sp>
        <p:nvSpPr>
          <p:cNvPr id="16" name="problem-name-2">
            <a:extLst xmlns:a="http://schemas.openxmlformats.org/drawingml/2006/main">
              <a:ext uri="{FF2B5EF4-FFF2-40B4-BE49-F238E27FC236}">
                <a16:creationId xmlns:a16="http://schemas.microsoft.com/office/drawing/2014/main" id="{DBE36FDA-8828-458F-97A8-F81DF1F0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762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925"/>
                </a:solidFill>
              </a:defRPr>
            </a:pPr>
            <a:r>
              <a:rPr sz="1575" b="1">
                <a:solidFill>
                  <a:srgbClr val="1C2925"/>
                </a:solidFill>
              </a:rPr>
              <a:t>SHEETS</a:t>
            </a:r>
          </a:p>
        </p:txBody>
      </p:sp>
      <p:sp>
        <p:nvSpPr>
          <p:cNvPr id="17" name="problem-desc-2">
            <a:extLst xmlns:a="http://schemas.openxmlformats.org/drawingml/2006/main">
              <a:ext uri="{FF2B5EF4-FFF2-40B4-BE49-F238E27FC236}">
                <a16:creationId xmlns:a16="http://schemas.microsoft.com/office/drawing/2014/main" id="{0E0D58BD-09B7-40A4-ADD3-A99BD289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7627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B"/>
                </a:solidFill>
              </a:defRPr>
            </a:pPr>
            <a:r>
              <a:rPr sz="1575" b="0">
                <a:solidFill>
                  <a:srgbClr val="64706B"/>
                </a:solidFill>
              </a:rPr>
              <a:t>Assemble assumptions</a:t>
            </a:r>
          </a:p>
        </p:txBody>
      </p:sp>
      <p:sp>
        <p:nvSpPr>
          <p:cNvPr id="18" name="rule-145-768">
            <a:extLst xmlns:a="http://schemas.openxmlformats.org/drawingml/2006/main">
              <a:ext uri="{FF2B5EF4-FFF2-40B4-BE49-F238E27FC236}">
                <a16:creationId xmlns:a16="http://schemas.microsoft.com/office/drawing/2014/main" id="{AB382BD5-E1BF-49A4-858C-AE07B4E4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3152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oblem-num-3">
            <a:extLst xmlns:a="http://schemas.openxmlformats.org/drawingml/2006/main">
              <a:ext uri="{FF2B5EF4-FFF2-40B4-BE49-F238E27FC236}">
                <a16:creationId xmlns:a16="http://schemas.microsoft.com/office/drawing/2014/main" id="{C21AE5CA-44EC-4DA1-9341-F206560C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5D20"/>
                </a:solidFill>
              </a:defRPr>
            </a:pPr>
            <a:r>
              <a:rPr sz="1350" b="1">
                <a:solidFill>
                  <a:srgbClr val="A75D20"/>
                </a:solidFill>
              </a:rPr>
              <a:t>04</a:t>
            </a:r>
          </a:p>
        </p:txBody>
      </p:sp>
      <p:sp>
        <p:nvSpPr>
          <p:cNvPr id="20" name="problem-name-3">
            <a:extLst xmlns:a="http://schemas.openxmlformats.org/drawingml/2006/main">
              <a:ext uri="{FF2B5EF4-FFF2-40B4-BE49-F238E27FC236}">
                <a16:creationId xmlns:a16="http://schemas.microsoft.com/office/drawing/2014/main" id="{E91365B7-D6F9-4397-AC3E-42ECF0A4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762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925"/>
                </a:solidFill>
              </a:defRPr>
            </a:pPr>
            <a:r>
              <a:rPr sz="1575" b="1">
                <a:solidFill>
                  <a:srgbClr val="1C2925"/>
                </a:solidFill>
              </a:rPr>
              <a:t>CALCULATOR</a:t>
            </a:r>
          </a:p>
        </p:txBody>
      </p:sp>
      <p:sp>
        <p:nvSpPr>
          <p:cNvPr id="21" name="problem-desc-3">
            <a:extLst xmlns:a="http://schemas.openxmlformats.org/drawingml/2006/main">
              <a:ext uri="{FF2B5EF4-FFF2-40B4-BE49-F238E27FC236}">
                <a16:creationId xmlns:a16="http://schemas.microsoft.com/office/drawing/2014/main" id="{C5AAE162-F068-4E9D-841C-EDEBA48E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7628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B"/>
                </a:solidFill>
              </a:defRPr>
            </a:pPr>
            <a:r>
              <a:rPr sz="1575" b="0">
                <a:solidFill>
                  <a:srgbClr val="64706B"/>
                </a:solidFill>
              </a:rPr>
              <a:t>Test the economics</a:t>
            </a:r>
          </a:p>
        </p:txBody>
      </p:sp>
      <p:sp>
        <p:nvSpPr>
          <p:cNvPr id="22" name="problem-insight">
            <a:extLst xmlns:a="http://schemas.openxmlformats.org/drawingml/2006/main">
              <a:ext uri="{FF2B5EF4-FFF2-40B4-BE49-F238E27FC236}">
                <a16:creationId xmlns:a16="http://schemas.microsoft.com/office/drawing/2014/main" id="{7F25EE74-FFCF-4DBF-B9C7-5A869EDB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1619250" cy="3524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F69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roblem-insight-label">
            <a:extLst xmlns:a="http://schemas.openxmlformats.org/drawingml/2006/main">
              <a:ext uri="{FF2B5EF4-FFF2-40B4-BE49-F238E27FC236}">
                <a16:creationId xmlns:a16="http://schemas.microsoft.com/office/drawing/2014/main" id="{1400CB5B-2CA7-4D0D-B385-501E7ACB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530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FECE5"/>
                </a:solidFill>
              </a:defRPr>
            </a:pPr>
            <a:r>
              <a:rPr sz="1200" b="1">
                <a:solidFill>
                  <a:srgbClr val="DFECE5"/>
                </a:solidFill>
              </a:rPr>
              <a:t>WEEK 3</a:t>
            </a:r>
          </a:p>
          <a:p xmlns:a="http://schemas.openxmlformats.org/drawingml/2006/main">
            <a:pPr algn="ctr">
              <a:defRPr sz="1200" b="1">
                <a:solidFill>
                  <a:srgbClr val="DFECE5"/>
                </a:solidFill>
              </a:defRPr>
            </a:pPr>
            <a:r>
              <a:rPr sz="1200" b="1">
                <a:solidFill>
                  <a:srgbClr val="DFECE5"/>
                </a:solidFill>
              </a:rPr>
              <a:t>REFRAME</a:t>
            </a:r>
          </a:p>
        </p:txBody>
      </p:sp>
      <p:sp>
        <p:nvSpPr>
          <p:cNvPr id="24" name="problem-insight-copy">
            <a:extLst xmlns:a="http://schemas.openxmlformats.org/drawingml/2006/main">
              <a:ext uri="{FF2B5EF4-FFF2-40B4-BE49-F238E27FC236}">
                <a16:creationId xmlns:a16="http://schemas.microsoft.com/office/drawing/2014/main" id="{709B8936-B0A3-469A-A0C5-8093F9BA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924550"/>
            <a:ext cx="12001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DF8"/>
                </a:solidFill>
              </a:defRPr>
            </a:pPr>
            <a:r>
              <a:rPr sz="1800" b="1">
                <a:solidFill>
                  <a:srgbClr val="FFFDF8"/>
                </a:solidFill>
              </a:rPr>
              <a:t>Not one</a:t>
            </a:r>
          </a:p>
          <a:p xmlns:a="http://schemas.openxmlformats.org/drawingml/2006/main">
            <a:pPr algn="ctr">
              <a:defRPr sz="1800" b="1">
                <a:solidFill>
                  <a:srgbClr val="FFFDF8"/>
                </a:solidFill>
              </a:defRPr>
            </a:pPr>
            <a:r>
              <a:rPr sz="1800" b="1">
                <a:solidFill>
                  <a:srgbClr val="FFFDF8"/>
                </a:solidFill>
              </a:rPr>
              <a:t>giant AI</a:t>
            </a:r>
          </a:p>
          <a:p xmlns:a="http://schemas.openxmlformats.org/drawingml/2006/main">
            <a:pPr algn="ctr">
              <a:defRPr sz="1800" b="1">
                <a:solidFill>
                  <a:srgbClr val="FFFDF8"/>
                </a:solidFill>
              </a:defRPr>
            </a:pPr>
            <a:r>
              <a:rPr sz="1800" b="1">
                <a:solidFill>
                  <a:srgbClr val="FFFDF8"/>
                </a:solidFill>
              </a:rPr>
              <a:t>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FFFDF8"/>
                </a:solidFill>
              </a:defRPr>
            </a:pPr>
            <a:r>
              <a:rPr sz="1800" b="1">
                <a:solidFill>
                  <a:srgbClr val="FFFDF8"/>
                </a:solidFill>
              </a:rPr>
              <a:t>A system</a:t>
            </a:r>
          </a:p>
          <a:p xmlns:a="http://schemas.openxmlformats.org/drawingml/2006/main">
            <a:pPr algn="ctr">
              <a:defRPr sz="1800" b="1">
                <a:solidFill>
                  <a:srgbClr val="FFFDF8"/>
                </a:solidFill>
              </a:defRPr>
            </a:pPr>
            <a:r>
              <a:rPr sz="1800" b="1">
                <a:solidFill>
                  <a:srgbClr val="FFFDF8"/>
                </a:solidFill>
              </a:rPr>
              <a:t>of patterns.</a:t>
            </a:r>
          </a:p>
        </p:txBody>
      </p:sp>
    </p:spTree>
    <p:extLst>
      <p:ext uri="{BB962C8B-B14F-4D97-AF65-F5344CB8AC3E}">
        <p14:creationId xmlns:p14="http://schemas.microsoft.com/office/powerpoint/2010/main" val="1865509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3">
            <a:extLst xmlns:a="http://schemas.openxmlformats.org/drawingml/2006/main">
              <a:ext uri="{FF2B5EF4-FFF2-40B4-BE49-F238E27FC236}">
                <a16:creationId xmlns:a16="http://schemas.microsoft.com/office/drawing/2014/main" id="{6DC10EFC-CF1B-45D6-8F41-7A77D007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954"/>
                </a:solidFill>
              </a:defRPr>
            </a:pPr>
            <a:r>
              <a:rPr sz="1275" b="1">
                <a:solidFill>
                  <a:srgbClr val="1F6954"/>
                </a:solidFill>
              </a:rPr>
              <a:t>STR INTELLIGENCE</a:t>
            </a:r>
          </a:p>
        </p:txBody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F8708721-8A35-4436-A439-9E32669E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06B"/>
                </a:solidFill>
              </a:defRPr>
            </a:pPr>
            <a:r>
              <a:rPr sz="1125" b="1">
                <a:solidFill>
                  <a:srgbClr val="64706B"/>
                </a:solidFill>
              </a:rPr>
              <a:t>PATTERNS 01–02</a:t>
            </a:r>
          </a:p>
        </p:txBody>
      </p:sp>
      <p:sp>
        <p:nvSpPr>
          <p:cNvPr id="3" name="rule-70-88">
            <a:extLst xmlns:a="http://schemas.openxmlformats.org/drawingml/2006/main">
              <a:ext uri="{FF2B5EF4-FFF2-40B4-BE49-F238E27FC236}">
                <a16:creationId xmlns:a16="http://schemas.microsoft.com/office/drawing/2014/main" id="{14C4221F-9829-45D5-94F9-8AE7F02F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718A894-AC24-4969-8FFD-AFF9322A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9620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06B"/>
                </a:solidFill>
              </a:defRPr>
            </a:pPr>
            <a:r>
              <a:rPr sz="1050" b="1">
                <a:solidFill>
                  <a:srgbClr val="64706B"/>
                </a:solidFill>
              </a:rPr>
              <a:t>03</a:t>
            </a:r>
          </a:p>
        </p:txBody>
      </p:sp>
      <p:sp>
        <p:nvSpPr>
          <p:cNvPr id="5" name="stage-label-01 · ROUTE">
            <a:extLst xmlns:a="http://schemas.openxmlformats.org/drawingml/2006/main">
              <a:ext uri="{FF2B5EF4-FFF2-40B4-BE49-F238E27FC236}">
                <a16:creationId xmlns:a16="http://schemas.microsoft.com/office/drawing/2014/main" id="{0B00A5EB-FAAC-4DCB-B3EE-56529237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95262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F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label-text-01 · ROUTE">
            <a:extLst xmlns:a="http://schemas.openxmlformats.org/drawingml/2006/main">
              <a:ext uri="{FF2B5EF4-FFF2-40B4-BE49-F238E27FC236}">
                <a16:creationId xmlns:a16="http://schemas.microsoft.com/office/drawing/2014/main" id="{47F0D4EA-5F79-4D0E-A171-721B73C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4A3B"/>
                </a:solidFill>
              </a:defRPr>
            </a:pPr>
            <a:r>
              <a:rPr sz="1200" b="1">
                <a:solidFill>
                  <a:srgbClr val="154A3B"/>
                </a:solidFill>
              </a:rPr>
              <a:t>01 · ROUTE</a:t>
            </a:r>
          </a:p>
        </p:txBody>
      </p:sp>
      <p:sp>
        <p:nvSpPr>
          <p:cNvPr id="7" name="route-title">
            <a:extLst xmlns:a="http://schemas.openxmlformats.org/drawingml/2006/main">
              <a:ext uri="{FF2B5EF4-FFF2-40B4-BE49-F238E27FC236}">
                <a16:creationId xmlns:a16="http://schemas.microsoft.com/office/drawing/2014/main" id="{29903A3E-171A-43A8-9FCF-73EA2CEE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C2925"/>
                </a:solidFill>
              </a:defRPr>
            </a:pPr>
            <a:r>
              <a:rPr sz="2925" b="1">
                <a:solidFill>
                  <a:srgbClr val="1C2925"/>
                </a:solidFill>
              </a:rPr>
              <a:t>Deterministic first. Agentic where it helps.</a:t>
            </a:r>
          </a:p>
        </p:txBody>
      </p:sp>
      <p:sp>
        <p:nvSpPr>
          <p:cNvPr id="8" name="route-copy">
            <a:extLst xmlns:a="http://schemas.openxmlformats.org/drawingml/2006/main">
              <a:ext uri="{FF2B5EF4-FFF2-40B4-BE49-F238E27FC236}">
                <a16:creationId xmlns:a16="http://schemas.microsoft.com/office/drawing/2014/main" id="{CD177CB2-379A-4122-8134-F717CE8A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06B"/>
                </a:solidFill>
              </a:defRPr>
            </a:pPr>
            <a:r>
              <a:rPr sz="1725" b="0">
                <a:solidFill>
                  <a:srgbClr val="64706B"/>
                </a:solidFill>
              </a:rPr>
              <a:t>Natural language becomes structured filters. LangGraph chooses the branch; TypeScript owns the rules.</a:t>
            </a:r>
          </a:p>
        </p:txBody>
      </p:sp>
      <p:sp>
        <p:nvSpPr>
          <p:cNvPr id="9" name="route-query">
            <a:extLst xmlns:a="http://schemas.openxmlformats.org/drawingml/2006/main">
              <a:ext uri="{FF2B5EF4-FFF2-40B4-BE49-F238E27FC236}">
                <a16:creationId xmlns:a16="http://schemas.microsoft.com/office/drawing/2014/main" id="{FF5B9AD5-9E88-4C44-831A-47E4D4C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571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4D9D2"/>
            </a:solidFill>
            <a:prstDash val="solid"/>
          </a:ln>
        </p:spPr>
      </p:sp>
      <p:sp>
        <p:nvSpPr>
          <p:cNvPr id="10" name="route-query-text">
            <a:extLst xmlns:a="http://schemas.openxmlformats.org/drawingml/2006/main">
              <a:ext uri="{FF2B5EF4-FFF2-40B4-BE49-F238E27FC236}">
                <a16:creationId xmlns:a16="http://schemas.microsoft.com/office/drawing/2014/main" id="{8279AA22-AA39-4885-A75E-F8FD4070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2925"/>
                </a:solidFill>
              </a:defRPr>
            </a:pPr>
            <a:r>
              <a:rPr sz="1575" b="1">
                <a:solidFill>
                  <a:srgbClr val="1C2925"/>
                </a:solidFill>
              </a:rPr>
              <a:t>“3+ bedroom homes</a:t>
            </a:r>
          </a:p>
          <a:p xmlns:a="http://schemas.openxmlformats.org/drawingml/2006/main">
            <a:pPr algn="l">
              <a:defRPr sz="1575" b="1">
                <a:solidFill>
                  <a:srgbClr val="1C2925"/>
                </a:solidFill>
              </a:defRPr>
            </a:pPr>
            <a:r>
              <a:rPr sz="1575" b="1">
                <a:solidFill>
                  <a:srgbClr val="1C2925"/>
                </a:solidFill>
              </a:rPr>
              <a:t>under $350K”</a:t>
            </a:r>
          </a:p>
        </p:txBody>
      </p:sp>
      <p:sp>
        <p:nvSpPr>
          <p:cNvPr id="11" name="route-arrow-1">
            <a:extLst xmlns:a="http://schemas.openxmlformats.org/drawingml/2006/main">
              <a:ext uri="{FF2B5EF4-FFF2-40B4-BE49-F238E27FC236}">
                <a16:creationId xmlns:a16="http://schemas.microsoft.com/office/drawing/2014/main" id="{2FBF114C-9E68-485A-84E3-500E21DB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576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6954"/>
                </a:solidFill>
              </a:defRPr>
            </a:pPr>
            <a:r>
              <a:rPr sz="2400" b="1">
                <a:solidFill>
                  <a:srgbClr val="1F6954"/>
                </a:solidFill>
              </a:rPr>
              <a:t>→</a:t>
            </a:r>
          </a:p>
        </p:txBody>
      </p:sp>
      <p:sp>
        <p:nvSpPr>
          <p:cNvPr id="12" name="route-state">
            <a:extLst xmlns:a="http://schemas.openxmlformats.org/drawingml/2006/main">
              <a:ext uri="{FF2B5EF4-FFF2-40B4-BE49-F238E27FC236}">
                <a16:creationId xmlns:a16="http://schemas.microsoft.com/office/drawing/2014/main" id="{0B89AFD8-1646-4043-9852-90677E39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2333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F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ute-state-text">
            <a:extLst xmlns:a="http://schemas.openxmlformats.org/drawingml/2006/main">
              <a:ext uri="{FF2B5EF4-FFF2-40B4-BE49-F238E27FC236}">
                <a16:creationId xmlns:a16="http://schemas.microsoft.com/office/drawing/2014/main" id="{4618A5C6-12EF-4195-85C3-326B22E6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195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4A3B"/>
                </a:solidFill>
              </a:defRPr>
            </a:pPr>
            <a:r>
              <a:rPr sz="1350" b="1">
                <a:solidFill>
                  <a:srgbClr val="154A3B"/>
                </a:solidFill>
              </a:rPr>
              <a:t>TYPED</a:t>
            </a:r>
          </a:p>
          <a:p xmlns:a="http://schemas.openxmlformats.org/drawingml/2006/main">
            <a:pPr algn="ctr">
              <a:defRPr sz="1350" b="1">
                <a:solidFill>
                  <a:srgbClr val="154A3B"/>
                </a:solidFill>
              </a:defRPr>
            </a:pPr>
            <a:r>
              <a:rPr sz="1350" b="1">
                <a:solidFill>
                  <a:srgbClr val="154A3B"/>
                </a:solidFill>
              </a:rPr>
              <a:t>WORKFLOW STATE</a:t>
            </a:r>
          </a:p>
        </p:txBody>
      </p:sp>
      <p:sp>
        <p:nvSpPr>
          <p:cNvPr id="14" name="route-arrow-2">
            <a:extLst xmlns:a="http://schemas.openxmlformats.org/drawingml/2006/main">
              <a:ext uri="{FF2B5EF4-FFF2-40B4-BE49-F238E27FC236}">
                <a16:creationId xmlns:a16="http://schemas.microsoft.com/office/drawing/2014/main" id="{5EEBEC5C-0AFB-46F2-8B89-9288A7AE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576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6954"/>
                </a:solidFill>
              </a:defRPr>
            </a:pPr>
            <a:r>
              <a:rPr sz="2400" b="1">
                <a:solidFill>
                  <a:srgbClr val="1F6954"/>
                </a:solidFill>
              </a:rPr>
              <a:t>→</a:t>
            </a:r>
          </a:p>
        </p:txBody>
      </p:sp>
      <p:sp>
        <p:nvSpPr>
          <p:cNvPr id="15" name="route-branches">
            <a:extLst xmlns:a="http://schemas.openxmlformats.org/drawingml/2006/main">
              <a:ext uri="{FF2B5EF4-FFF2-40B4-BE49-F238E27FC236}">
                <a16:creationId xmlns:a16="http://schemas.microsoft.com/office/drawing/2014/main" id="{FB0E2643-924D-4EA6-B70E-5C7081A3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5765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2925"/>
                </a:solidFill>
              </a:defRPr>
            </a:pPr>
            <a:r>
              <a:rPr sz="1350" b="1">
                <a:solidFill>
                  <a:srgbClr val="1C2925"/>
                </a:solidFill>
              </a:rPr>
              <a:t>HOME</a:t>
            </a:r>
          </a:p>
          <a:p xmlns:a="http://schemas.openxmlformats.org/drawingml/2006/main">
            <a:pPr algn="l">
              <a:defRPr sz="1350" b="1">
                <a:solidFill>
                  <a:srgbClr val="1C2925"/>
                </a:solidFill>
              </a:defRPr>
            </a:pPr>
            <a:r>
              <a:rPr sz="1350" b="1">
                <a:solidFill>
                  <a:srgbClr val="1C2925"/>
                </a:solidFill>
              </a:rPr>
              <a:t>LAND</a:t>
            </a:r>
          </a:p>
          <a:p xmlns:a="http://schemas.openxmlformats.org/drawingml/2006/main">
            <a:pPr algn="l">
              <a:defRPr sz="1350" b="1">
                <a:solidFill>
                  <a:srgbClr val="1C2925"/>
                </a:solidFill>
              </a:defRPr>
            </a:pPr>
            <a:r>
              <a:rPr sz="1350" b="1">
                <a:solidFill>
                  <a:srgbClr val="1C2925"/>
                </a:solidFill>
              </a:rPr>
              <a:t>INVALID</a:t>
            </a:r>
          </a:p>
        </p:txBody>
      </p:sp>
      <p:sp>
        <p:nvSpPr>
          <p:cNvPr id="16" name="stage-label-02 · SEQUENCE">
            <a:extLst xmlns:a="http://schemas.openxmlformats.org/drawingml/2006/main">
              <a:ext uri="{FF2B5EF4-FFF2-40B4-BE49-F238E27FC236}">
                <a16:creationId xmlns:a16="http://schemas.microsoft.com/office/drawing/2014/main" id="{8A9079B1-8B55-4426-9FFD-A99883BE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95262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3E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ge-label-text-02 · SEQUENCE">
            <a:extLst xmlns:a="http://schemas.openxmlformats.org/drawingml/2006/main">
              <a:ext uri="{FF2B5EF4-FFF2-40B4-BE49-F238E27FC236}">
                <a16:creationId xmlns:a16="http://schemas.microsoft.com/office/drawing/2014/main" id="{66E3A6C2-6F57-4004-8E05-9545644C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48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5D20"/>
                </a:solidFill>
              </a:defRPr>
            </a:pPr>
            <a:r>
              <a:rPr sz="1200" b="1">
                <a:solidFill>
                  <a:srgbClr val="A75D20"/>
                </a:solidFill>
              </a:rPr>
              <a:t>02 · SEQUENCE</a:t>
            </a:r>
          </a:p>
        </p:txBody>
      </p:sp>
      <p:sp>
        <p:nvSpPr>
          <p:cNvPr id="18" name="sequence-title">
            <a:extLst xmlns:a="http://schemas.openxmlformats.org/drawingml/2006/main">
              <a:ext uri="{FF2B5EF4-FFF2-40B4-BE49-F238E27FC236}">
                <a16:creationId xmlns:a16="http://schemas.microsoft.com/office/drawing/2014/main" id="{FE0C53EA-E12A-4BB7-B937-EAA03677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987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925"/>
                </a:solidFill>
              </a:defRPr>
            </a:pPr>
            <a:r>
              <a:rPr sz="2850" b="1">
                <a:solidFill>
                  <a:srgbClr val="1C2925"/>
                </a:solidFill>
              </a:rPr>
              <a:t>Make every transition explicit.</a:t>
            </a:r>
          </a:p>
        </p:txBody>
      </p:sp>
      <p:sp>
        <p:nvSpPr>
          <p:cNvPr id="19" name="sequence-flow">
            <a:extLst xmlns:a="http://schemas.openxmlformats.org/drawingml/2006/main">
              <a:ext uri="{FF2B5EF4-FFF2-40B4-BE49-F238E27FC236}">
                <a16:creationId xmlns:a16="http://schemas.microsoft.com/office/drawing/2014/main" id="{452736B4-ECC4-43AE-8FE9-38A3EA0A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7237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4A3B"/>
                </a:solidFill>
              </a:defRPr>
            </a:pPr>
            <a:r>
              <a:rPr sz="1500" b="1">
                <a:solidFill>
                  <a:srgbClr val="154A3B"/>
                </a:solidFill>
              </a:rPr>
              <a:t>SCRAPE  →  NORMALIZE  →  VALIDATE  →  DEDUPLICATE  →  SAVE</a:t>
            </a:r>
          </a:p>
        </p:txBody>
      </p:sp>
      <p:sp>
        <p:nvSpPr>
          <p:cNvPr id="20" name="sequence-copy">
            <a:extLst xmlns:a="http://schemas.openxmlformats.org/drawingml/2006/main">
              <a:ext uri="{FF2B5EF4-FFF2-40B4-BE49-F238E27FC236}">
                <a16:creationId xmlns:a16="http://schemas.microsoft.com/office/drawing/2014/main" id="{4BBDAA4D-B566-425F-9D58-FFF68CBA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210550"/>
            <a:ext cx="828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06B"/>
                </a:solidFill>
              </a:defRPr>
            </a:pPr>
            <a:r>
              <a:rPr sz="1725" b="0">
                <a:solidFill>
                  <a:srgbClr val="64706B"/>
                </a:solidFill>
              </a:rPr>
              <a:t>Each step updates shared state, contains malformed records, and leaves evidence for the next decision.</a:t>
            </a:r>
          </a:p>
        </p:txBody>
      </p:sp>
    </p:spTree>
    <p:extLst>
      <p:ext uri="{BB962C8B-B14F-4D97-AF65-F5344CB8AC3E}">
        <p14:creationId xmlns:p14="http://schemas.microsoft.com/office/powerpoint/2010/main" val="1288406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4">
            <a:extLst xmlns:a="http://schemas.openxmlformats.org/drawingml/2006/main">
              <a:ext uri="{FF2B5EF4-FFF2-40B4-BE49-F238E27FC236}">
                <a16:creationId xmlns:a16="http://schemas.microsoft.com/office/drawing/2014/main" id="{C57E5B3F-210D-4D18-A815-F8AC23D2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954"/>
                </a:solidFill>
              </a:defRPr>
            </a:pPr>
            <a:r>
              <a:rPr sz="1275" b="1">
                <a:solidFill>
                  <a:srgbClr val="1F6954"/>
                </a:solidFill>
              </a:rPr>
              <a:t>STR INTELLIGENCE</a:t>
            </a:r>
          </a:p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5D162270-9D2A-4905-9B80-2CAD214E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06B"/>
                </a:solidFill>
              </a:defRPr>
            </a:pPr>
            <a:r>
              <a:rPr sz="1125" b="1">
                <a:solidFill>
                  <a:srgbClr val="64706B"/>
                </a:solidFill>
              </a:rPr>
              <a:t>PATTERNS 03–04</a:t>
            </a:r>
          </a:p>
        </p:txBody>
      </p:sp>
      <p:sp>
        <p:nvSpPr>
          <p:cNvPr id="3" name="rule-70-88">
            <a:extLst xmlns:a="http://schemas.openxmlformats.org/drawingml/2006/main">
              <a:ext uri="{FF2B5EF4-FFF2-40B4-BE49-F238E27FC236}">
                <a16:creationId xmlns:a16="http://schemas.microsoft.com/office/drawing/2014/main" id="{C5D618A9-2027-4346-8A03-8AE7EC2D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BB5251A-3B02-4E75-90C4-4ABA7BE1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9620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06B"/>
                </a:solidFill>
              </a:defRPr>
            </a:pPr>
            <a:r>
              <a:rPr sz="1050" b="1">
                <a:solidFill>
                  <a:srgbClr val="64706B"/>
                </a:solidFill>
              </a:rPr>
              <a:t>04</a:t>
            </a:r>
          </a:p>
        </p:txBody>
      </p:sp>
      <p:sp>
        <p:nvSpPr>
          <p:cNvPr id="5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F0BAA6F5-A36C-4E99-ACC1-69B16255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810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2925"/>
                </a:solidFill>
              </a:defRPr>
            </a:pPr>
            <a:r>
              <a:rPr sz="3600" b="1">
                <a:solidFill>
                  <a:srgbClr val="1C2925"/>
                </a:solidFill>
              </a:rPr>
              <a:t>Memory should change what</a:t>
            </a:r>
          </a:p>
          <a:p xmlns:a="http://schemas.openxmlformats.org/drawingml/2006/main">
            <a:pPr algn="l">
              <a:defRPr sz="3600" b="1">
                <a:solidFill>
                  <a:srgbClr val="1C2925"/>
                </a:solidFill>
              </a:defRPr>
            </a:pPr>
            <a:r>
              <a:rPr sz="3600" b="1">
                <a:solidFill>
                  <a:srgbClr val="1C2925"/>
                </a:solidFill>
              </a:rPr>
              <a:t>the system does next.</a:t>
            </a:r>
          </a:p>
        </p:txBody>
      </p:sp>
      <p:sp>
        <p:nvSpPr>
          <p:cNvPr id="6" name="memory-copy">
            <a:extLst xmlns:a="http://schemas.openxmlformats.org/drawingml/2006/main">
              <a:ext uri="{FF2B5EF4-FFF2-40B4-BE49-F238E27FC236}">
                <a16:creationId xmlns:a16="http://schemas.microsoft.com/office/drawing/2014/main" id="{4B0F636D-089A-4A32-9397-7FEA6162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06B"/>
                </a:solidFill>
              </a:defRPr>
            </a:pPr>
            <a:r>
              <a:rPr sz="1725" b="0">
                <a:solidFill>
                  <a:srgbClr val="64706B"/>
                </a:solidFill>
              </a:rPr>
              <a:t>Before calling a paid Airbnb provider, the workflow asks Supabase what it already knows.</a:t>
            </a:r>
          </a:p>
        </p:txBody>
      </p:sp>
      <p:sp>
        <p:nvSpPr>
          <p:cNvPr id="7" name="memory-check">
            <a:extLst xmlns:a="http://schemas.openxmlformats.org/drawingml/2006/main">
              <a:ext uri="{FF2B5EF4-FFF2-40B4-BE49-F238E27FC236}">
                <a16:creationId xmlns:a16="http://schemas.microsoft.com/office/drawing/2014/main" id="{0E5DE203-FE03-439C-B6CD-09E9E008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954"/>
                </a:solidFill>
              </a:defRPr>
            </a:pPr>
            <a:r>
              <a:rPr sz="1350" b="1">
                <a:solidFill>
                  <a:srgbClr val="1F6954"/>
                </a:solidFill>
              </a:rPr>
              <a:t>CHECK SAVED EVIDENCE</a:t>
            </a:r>
          </a:p>
        </p:txBody>
      </p:sp>
      <p:sp>
        <p:nvSpPr>
          <p:cNvPr id="8" name="rule-70-467">
            <a:extLst xmlns:a="http://schemas.openxmlformats.org/drawingml/2006/main">
              <a:ext uri="{FF2B5EF4-FFF2-40B4-BE49-F238E27FC236}">
                <a16:creationId xmlns:a16="http://schemas.microsoft.com/office/drawing/2014/main" id="{E0D5CAF1-1EBD-4055-A1B3-618D90EF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mory-block-0">
            <a:extLst xmlns:a="http://schemas.openxmlformats.org/drawingml/2006/main">
              <a:ext uri="{FF2B5EF4-FFF2-40B4-BE49-F238E27FC236}">
                <a16:creationId xmlns:a16="http://schemas.microsoft.com/office/drawing/2014/main" id="{A9486A7A-AAF1-48FA-8874-D38CD2B7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2714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F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mory-block-label-0">
            <a:extLst xmlns:a="http://schemas.openxmlformats.org/drawingml/2006/main">
              <a:ext uri="{FF2B5EF4-FFF2-40B4-BE49-F238E27FC236}">
                <a16:creationId xmlns:a16="http://schemas.microsoft.com/office/drawing/2014/main" id="{72CC8819-5871-4509-B25B-764A6DB4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4A3B"/>
                </a:solidFill>
              </a:defRPr>
            </a:pPr>
            <a:r>
              <a:rPr sz="1350" b="1">
                <a:solidFill>
                  <a:srgbClr val="154A3B"/>
                </a:solidFill>
              </a:rPr>
              <a:t>FRESH</a:t>
            </a:r>
          </a:p>
        </p:txBody>
      </p:sp>
      <p:sp>
        <p:nvSpPr>
          <p:cNvPr id="11" name="memory-block-copy-0">
            <a:extLst xmlns:a="http://schemas.openxmlformats.org/drawingml/2006/main">
              <a:ext uri="{FF2B5EF4-FFF2-40B4-BE49-F238E27FC236}">
                <a16:creationId xmlns:a16="http://schemas.microsoft.com/office/drawing/2014/main" id="{74F0D89D-E065-4519-A017-EE49ED06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925"/>
                </a:solidFill>
              </a:defRPr>
            </a:pPr>
            <a:r>
              <a:rPr sz="1725" b="1">
                <a:solidFill>
                  <a:srgbClr val="1C2925"/>
                </a:solidFill>
              </a:rPr>
              <a:t>Reuse immediately</a:t>
            </a:r>
          </a:p>
        </p:txBody>
      </p:sp>
      <p:sp>
        <p:nvSpPr>
          <p:cNvPr id="12" name="memory-block-1">
            <a:extLst xmlns:a="http://schemas.openxmlformats.org/drawingml/2006/main">
              <a:ext uri="{FF2B5EF4-FFF2-40B4-BE49-F238E27FC236}">
                <a16:creationId xmlns:a16="http://schemas.microsoft.com/office/drawing/2014/main" id="{CC3D3044-93E8-42A0-8299-E2FE2B28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905375"/>
            <a:ext cx="2714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3E3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mory-block-label-1">
            <a:extLst xmlns:a="http://schemas.openxmlformats.org/drawingml/2006/main">
              <a:ext uri="{FF2B5EF4-FFF2-40B4-BE49-F238E27FC236}">
                <a16:creationId xmlns:a16="http://schemas.microsoft.com/office/drawing/2014/main" id="{B530C358-1B39-4825-B208-887125A2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143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5D20"/>
                </a:solidFill>
              </a:defRPr>
            </a:pPr>
            <a:r>
              <a:rPr sz="1350" b="1">
                <a:solidFill>
                  <a:srgbClr val="A75D20"/>
                </a:solidFill>
              </a:rPr>
              <a:t>STALE</a:t>
            </a:r>
          </a:p>
        </p:txBody>
      </p:sp>
      <p:sp>
        <p:nvSpPr>
          <p:cNvPr id="14" name="memory-block-copy-1">
            <a:extLst xmlns:a="http://schemas.openxmlformats.org/drawingml/2006/main">
              <a:ext uri="{FF2B5EF4-FFF2-40B4-BE49-F238E27FC236}">
                <a16:creationId xmlns:a16="http://schemas.microsoft.com/office/drawing/2014/main" id="{93F07AE7-95DF-4C7B-BF5F-B0DB0C76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6959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925"/>
                </a:solidFill>
              </a:defRPr>
            </a:pPr>
            <a:r>
              <a:rPr sz="1725" b="1">
                <a:solidFill>
                  <a:srgbClr val="1C2925"/>
                </a:solidFill>
              </a:rPr>
              <a:t>Refresh if possible</a:t>
            </a:r>
          </a:p>
        </p:txBody>
      </p:sp>
      <p:sp>
        <p:nvSpPr>
          <p:cNvPr id="15" name="memory-block-2">
            <a:extLst xmlns:a="http://schemas.openxmlformats.org/drawingml/2006/main">
              <a:ext uri="{FF2B5EF4-FFF2-40B4-BE49-F238E27FC236}">
                <a16:creationId xmlns:a16="http://schemas.microsoft.com/office/drawing/2014/main" id="{FADC0857-2F2D-49B6-8AA5-0F317973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05375"/>
            <a:ext cx="27146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8E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mory-block-label-2">
            <a:extLst xmlns:a="http://schemas.openxmlformats.org/drawingml/2006/main">
              <a:ext uri="{FF2B5EF4-FFF2-40B4-BE49-F238E27FC236}">
                <a16:creationId xmlns:a16="http://schemas.microsoft.com/office/drawing/2014/main" id="{AFE5D24A-1D07-4404-8CE2-3D695A46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43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2925"/>
                </a:solidFill>
              </a:defRPr>
            </a:pPr>
            <a:r>
              <a:rPr sz="1350" b="1">
                <a:solidFill>
                  <a:srgbClr val="1C2925"/>
                </a:solidFill>
              </a:rPr>
              <a:t>ERROR</a:t>
            </a:r>
          </a:p>
        </p:txBody>
      </p:sp>
      <p:sp>
        <p:nvSpPr>
          <p:cNvPr id="17" name="memory-block-copy-2">
            <a:extLst xmlns:a="http://schemas.openxmlformats.org/drawingml/2006/main">
              <a:ext uri="{FF2B5EF4-FFF2-40B4-BE49-F238E27FC236}">
                <a16:creationId xmlns:a16="http://schemas.microsoft.com/office/drawing/2014/main" id="{55FA1130-76AD-448A-A63A-BFDB8E22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959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925"/>
                </a:solidFill>
              </a:defRPr>
            </a:pPr>
            <a:r>
              <a:rPr sz="1725" b="1">
                <a:solidFill>
                  <a:srgbClr val="1C2925"/>
                </a:solidFill>
              </a:rPr>
              <a:t>Fall back safely</a:t>
            </a:r>
          </a:p>
        </p:txBody>
      </p:sp>
      <p:sp>
        <p:nvSpPr>
          <p:cNvPr id="18" name="rule-70-760">
            <a:extLst xmlns:a="http://schemas.openxmlformats.org/drawingml/2006/main">
              <a:ext uri="{FF2B5EF4-FFF2-40B4-BE49-F238E27FC236}">
                <a16:creationId xmlns:a16="http://schemas.microsoft.com/office/drawing/2014/main" id="{DB191618-22E6-40B6-B028-2A8B1018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man-label">
            <a:extLst xmlns:a="http://schemas.openxmlformats.org/drawingml/2006/main">
              <a:ext uri="{FF2B5EF4-FFF2-40B4-BE49-F238E27FC236}">
                <a16:creationId xmlns:a16="http://schemas.microsoft.com/office/drawing/2014/main" id="{222CEA16-1E61-435B-959A-B87AE92F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676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5D20"/>
                </a:solidFill>
              </a:defRPr>
            </a:pPr>
            <a:r>
              <a:rPr sz="1350" b="1">
                <a:solidFill>
                  <a:srgbClr val="A75D20"/>
                </a:solidFill>
              </a:rPr>
              <a:t>HUMAN-IN-THE-LOOP</a:t>
            </a:r>
          </a:p>
        </p:txBody>
      </p:sp>
      <p:sp>
        <p:nvSpPr>
          <p:cNvPr id="20" name="human-copy">
            <a:extLst xmlns:a="http://schemas.openxmlformats.org/drawingml/2006/main">
              <a:ext uri="{FF2B5EF4-FFF2-40B4-BE49-F238E27FC236}">
                <a16:creationId xmlns:a16="http://schemas.microsoft.com/office/drawing/2014/main" id="{6BC72CDB-3337-4704-BB39-93C36FD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724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925"/>
                </a:solidFill>
              </a:defRPr>
            </a:pPr>
            <a:r>
              <a:rPr sz="1875" b="1">
                <a:solidFill>
                  <a:srgbClr val="1C2925"/>
                </a:solidFill>
              </a:rPr>
              <a:t>The system can rank and calculate. The investor still controls paid actions, assumptions, deeper analysis, and the final decision.</a:t>
            </a:r>
          </a:p>
        </p:txBody>
      </p:sp>
    </p:spTree>
    <p:extLst>
      <p:ext uri="{BB962C8B-B14F-4D97-AF65-F5344CB8AC3E}">
        <p14:creationId xmlns:p14="http://schemas.microsoft.com/office/powerpoint/2010/main" val="20384915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4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inal-kicker">
            <a:extLst xmlns:a="http://schemas.openxmlformats.org/drawingml/2006/main">
              <a:ext uri="{FF2B5EF4-FFF2-40B4-BE49-F238E27FC236}">
                <a16:creationId xmlns:a16="http://schemas.microsoft.com/office/drawing/2014/main" id="{143FDEF1-CE5C-4458-9A7F-08444F44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FECE5"/>
                </a:solidFill>
              </a:defRPr>
            </a:pPr>
            <a:r>
              <a:rPr sz="1275" b="1">
                <a:solidFill>
                  <a:srgbClr val="DFECE5"/>
                </a:solidFill>
              </a:rPr>
              <a:t>PATTERN 05 · CONDITIONAL MULTIMODAL EVALUATION</a:t>
            </a:r>
          </a:p>
        </p:txBody>
      </p:sp>
      <p:sp>
        <p:nvSpPr>
          <p:cNvPr id="2" name="final-title">
            <a:extLst xmlns:a="http://schemas.openxmlformats.org/drawingml/2006/main">
              <a:ext uri="{FF2B5EF4-FFF2-40B4-BE49-F238E27FC236}">
                <a16:creationId xmlns:a16="http://schemas.microsoft.com/office/drawing/2014/main" id="{5AE43914-CC87-4DFC-B086-27B879F8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09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DF8"/>
                </a:solidFill>
              </a:defRPr>
            </a:pPr>
            <a:r>
              <a:rPr sz="3750" b="1">
                <a:solidFill>
                  <a:srgbClr val="FFFDF8"/>
                </a:solidFill>
              </a:rPr>
              <a:t>Use the model where</a:t>
            </a:r>
          </a:p>
          <a:p xmlns:a="http://schemas.openxmlformats.org/drawingml/2006/main">
            <a:pPr algn="l">
              <a:defRPr sz="3750" b="1">
                <a:solidFill>
                  <a:srgbClr val="FFFDF8"/>
                </a:solidFill>
              </a:defRPr>
            </a:pPr>
            <a:r>
              <a:rPr sz="3750" b="1">
                <a:solidFill>
                  <a:srgbClr val="FFFDF8"/>
                </a:solidFill>
              </a:rPr>
              <a:t>interpretation adds value.</a:t>
            </a:r>
          </a:p>
        </p:txBody>
      </p:sp>
      <p:sp>
        <p:nvSpPr>
          <p:cNvPr id="3" name="final-copy">
            <a:extLst xmlns:a="http://schemas.openxmlformats.org/drawingml/2006/main">
              <a:ext uri="{FF2B5EF4-FFF2-40B4-BE49-F238E27FC236}">
                <a16:creationId xmlns:a16="http://schemas.microsoft.com/office/drawing/2014/main" id="{0A23CF5C-6831-45BD-A6F6-B0A81C2C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809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8E2"/>
                </a:solidFill>
              </a:defRPr>
            </a:pPr>
            <a:r>
              <a:rPr sz="1800" b="0">
                <a:solidFill>
                  <a:srgbClr val="DDE8E2"/>
                </a:solidFill>
              </a:rPr>
              <a:t>Photos + listing facts are evaluated only on request—and only when enough evidence exists. Routing, scoring, persistence, and financial math remain deterministic.</a:t>
            </a:r>
          </a:p>
        </p:txBody>
      </p:sp>
      <p:sp>
        <p:nvSpPr>
          <p:cNvPr id="4" name="rule-70-520">
            <a:extLst xmlns:a="http://schemas.openxmlformats.org/drawingml/2006/main">
              <a:ext uri="{FF2B5EF4-FFF2-40B4-BE49-F238E27FC236}">
                <a16:creationId xmlns:a16="http://schemas.microsoft.com/office/drawing/2014/main" id="{32B9F39A-E137-434A-911D-943D2472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75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inal-lesson-label">
            <a:extLst xmlns:a="http://schemas.openxmlformats.org/drawingml/2006/main">
              <a:ext uri="{FF2B5EF4-FFF2-40B4-BE49-F238E27FC236}">
                <a16:creationId xmlns:a16="http://schemas.microsoft.com/office/drawing/2014/main" id="{89D89168-23B5-48F8-9AD8-224F09A7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B27D"/>
                </a:solidFill>
              </a:defRPr>
            </a:pPr>
            <a:r>
              <a:rPr sz="1275" b="1">
                <a:solidFill>
                  <a:srgbClr val="F0B27D"/>
                </a:solidFill>
              </a:rPr>
              <a:t>MY WEEK 3 TAKEAWAY</a:t>
            </a:r>
          </a:p>
        </p:txBody>
      </p:sp>
      <p:sp>
        <p:nvSpPr>
          <p:cNvPr id="6" name="final-lesson">
            <a:extLst xmlns:a="http://schemas.openxmlformats.org/drawingml/2006/main">
              <a:ext uri="{FF2B5EF4-FFF2-40B4-BE49-F238E27FC236}">
                <a16:creationId xmlns:a16="http://schemas.microsoft.com/office/drawing/2014/main" id="{39CF8A2A-FB5D-4759-9204-3525ACEB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790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DF8"/>
                </a:solidFill>
              </a:defRPr>
            </a:pPr>
            <a:r>
              <a:rPr sz="3300" b="1">
                <a:solidFill>
                  <a:srgbClr val="FFFDF8"/>
                </a:solidFill>
              </a:rPr>
              <a:t>Reliable agents do not need</a:t>
            </a:r>
          </a:p>
          <a:p xmlns:a="http://schemas.openxmlformats.org/drawingml/2006/main">
            <a:pPr algn="l">
              <a:defRPr sz="3300" b="1">
                <a:solidFill>
                  <a:srgbClr val="FFFDF8"/>
                </a:solidFill>
              </a:defRPr>
            </a:pPr>
            <a:r>
              <a:rPr sz="3300" b="1">
                <a:solidFill>
                  <a:srgbClr val="FFFDF8"/>
                </a:solidFill>
              </a:rPr>
              <a:t>unlimited autonomy.</a:t>
            </a:r>
          </a:p>
          <a:p xmlns:a="http://schemas.openxmlformats.org/drawingml/2006/main">
            <a:pPr algn="l">
              <a:defRPr sz="3300" b="1">
                <a:solidFill>
                  <a:srgbClr val="FFFDF8"/>
                </a:solidFill>
              </a:defRPr>
            </a:pPr>
            <a:r>
              <a:rPr sz="3300" b="1">
                <a:solidFill>
                  <a:srgbClr val="FFFDF8"/>
                </a:solidFill>
              </a:rPr>
              <a:t>They need better structure.</a:t>
            </a:r>
          </a:p>
        </p:txBody>
      </p:sp>
      <p:sp>
        <p:nvSpPr>
          <p:cNvPr id="7" name="final-proof">
            <a:extLst xmlns:a="http://schemas.openxmlformats.org/drawingml/2006/main">
              <a:ext uri="{FF2B5EF4-FFF2-40B4-BE49-F238E27FC236}">
                <a16:creationId xmlns:a16="http://schemas.microsoft.com/office/drawing/2014/main" id="{50B3D0AB-B673-4619-AB75-96C91F94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43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FECE5"/>
                </a:solidFill>
              </a:defRPr>
            </a:pPr>
            <a:r>
              <a:rPr sz="1275" b="1">
                <a:solidFill>
                  <a:srgbClr val="DFECE5"/>
                </a:solidFill>
              </a:rPr>
              <a:t>219 AUTOMATED TESTS</a:t>
            </a:r>
          </a:p>
        </p:txBody>
      </p:sp>
      <p:sp>
        <p:nvSpPr>
          <p:cNvPr id="8" name="final-stack">
            <a:extLst xmlns:a="http://schemas.openxmlformats.org/drawingml/2006/main">
              <a:ext uri="{FF2B5EF4-FFF2-40B4-BE49-F238E27FC236}">
                <a16:creationId xmlns:a16="http://schemas.microsoft.com/office/drawing/2014/main" id="{5BB4B29A-9250-44EB-AB30-0F872732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7439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FECE5"/>
                </a:solidFill>
              </a:defRPr>
            </a:pPr>
            <a:r>
              <a:rPr sz="1050" b="1">
                <a:solidFill>
                  <a:srgbClr val="DFECE5"/>
                </a:solidFill>
              </a:rPr>
              <a:t>LANGGRAPH · LANGCHAIN · REACT · TYPESCRIPT · SUPABASE</a:t>
            </a:r>
          </a:p>
        </p:txBody>
      </p:sp>
      <p:sp>
        <p:nvSpPr>
          <p:cNvPr id="9" name="final-author">
            <a:extLst xmlns:a="http://schemas.openxmlformats.org/drawingml/2006/main">
              <a:ext uri="{FF2B5EF4-FFF2-40B4-BE49-F238E27FC236}">
                <a16:creationId xmlns:a16="http://schemas.microsoft.com/office/drawing/2014/main" id="{C4A2AE4A-8B6B-42B7-A858-A349B36D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Kajal Patel</a:t>
            </a:r>
          </a:p>
        </p:txBody>
      </p:sp>
      <p:sp>
        <p:nvSpPr>
          <p:cNvPr id="10" name="final-page">
            <a:extLst xmlns:a="http://schemas.openxmlformats.org/drawingml/2006/main">
              <a:ext uri="{FF2B5EF4-FFF2-40B4-BE49-F238E27FC236}">
                <a16:creationId xmlns:a16="http://schemas.microsoft.com/office/drawing/2014/main" id="{8B920F59-26C4-48DB-82E8-3A2D5298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9525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FECE5"/>
                </a:solidFill>
              </a:defRPr>
            </a:pPr>
            <a:r>
              <a:rPr sz="1050" b="1">
                <a:solidFill>
                  <a:srgbClr val="DFECE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4535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2026-08-31T23:38:43.5440000Z</dcterms:created>
  <dcterms:modified xsi:type="dcterms:W3CDTF">2026-08-31T23:38:43.5440000Z</dcterms:modified>
</coreProperties>
</file>